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Bottom line: Group net revenue fell KSh 5.21M (10.7%). We did not lose customers — active customers rose +5.5%. We lost trips (-11.4% orders per customer) and basket (-4.5% average order value), and 71% of the damage sits in two of six stores.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decision, not the method. If nobody's plan changes, the analysis failed.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tiles, six comparisons. The one to dwell on is orders per customer — it is the engine of the whole decline.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finding carries a so-what. A finding without a consequence is trivia.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finding carries a so-what. A finding without a consequence is trivia.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finding carries a so-what. A finding without a consequence is trivia.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10.7% fall is one customer gain against two larger losses — it is not one event.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Acquisition is working; repeat behaviour is not. Different problem, different owner.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stores carry 71% of the decline.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decline is concentrated, not diffuse — so the fix can be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Groceries is the biggest absolute loss, Beverages the fastest fall. Either alone misleads.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9.5% availability for 76 days at Mombasa Nyali.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KSh 1.43M of extra discount in one quarter.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Disjoint and audited: the bars sum to the whole decline with no double counting.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cheap reversible actions first. The policy change and the purchase order can start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senior analysis is judged as much by what it refuses to claim. The Kisumu figure is flagged and deliberately not back-filled with a 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Name the follow-up date in the room. An analysis that never checks its own predictions never improves.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B6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111858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B6107"/>
                </a:solidFill>
                <a:latin typeface="Liberation Sans"/>
              </a:rPr>
              <a:t>MAVUNO HOME &amp; CARE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1118585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400" b="1" i="0">
                <a:solidFill>
                  <a:srgbClr val="1B6B34"/>
                </a:solidFill>
                <a:latin typeface="Liberation Sans"/>
              </a:rPr>
              <a:t>Revenue Decline Diagnostic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395728"/>
            <a:ext cx="11185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7241B"/>
                </a:solidFill>
                <a:latin typeface="Liberation Sans"/>
              </a:rPr>
              <a:t>Why group revenue fell 10.7% — and who owns each cause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3218688"/>
            <a:ext cx="1005840" cy="64008"/>
          </a:xfrm>
          <a:prstGeom prst="rect">
            <a:avLst/>
          </a:prstGeom>
          <a:solidFill>
            <a:srgbClr val="FB6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3474720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9877B"/>
                </a:solidFill>
                <a:latin typeface="Liberation Sans"/>
              </a:rPr>
              <a:t>Q3 2026 vs Q3 2025   ·   prepared 2026-10-05   ·   Senior Data Analyst   ·   Internal — Commercial leadership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4251960"/>
            <a:ext cx="2673019" cy="1325880"/>
          </a:xfrm>
          <a:prstGeom prst="rect">
            <a:avLst/>
          </a:prstGeom>
          <a:solidFill>
            <a:srgbClr val="FFE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4343400"/>
            <a:ext cx="24169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1" i="0">
                <a:solidFill>
                  <a:srgbClr val="89877B"/>
                </a:solidFill>
                <a:latin typeface="Liberation Sans"/>
              </a:rPr>
              <a:t>NET REVENUE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" y="4544568"/>
            <a:ext cx="241698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000" b="1" i="0">
                <a:solidFill>
                  <a:srgbClr val="FB6107"/>
                </a:solidFill>
                <a:latin typeface="Liberation Sans"/>
              </a:rPr>
              <a:t>KSh 43.65M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" y="4983480"/>
            <a:ext cx="24169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FB6107"/>
                </a:solidFill>
                <a:latin typeface="Liberation Sans"/>
              </a:rPr>
              <a:t>-10.7%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FB6107"/>
                </a:solidFill>
                <a:latin typeface="Liberation Sans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3340531" y="4251960"/>
            <a:ext cx="2673019" cy="1325880"/>
          </a:xfrm>
          <a:prstGeom prst="rect">
            <a:avLst/>
          </a:prstGeom>
          <a:solidFill>
            <a:srgbClr val="FFE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68547" y="4343400"/>
            <a:ext cx="24169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1" i="0">
                <a:solidFill>
                  <a:srgbClr val="89877B"/>
                </a:solidFill>
                <a:latin typeface="Liberation Sans"/>
              </a:rPr>
              <a:t>GROSS MARGIN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8547" y="4544568"/>
            <a:ext cx="241698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000" b="1" i="0">
                <a:solidFill>
                  <a:srgbClr val="FB6107"/>
                </a:solidFill>
                <a:latin typeface="Liberation Sans"/>
              </a:rPr>
              <a:t>18.57%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8547" y="4983480"/>
            <a:ext cx="24169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FB6107"/>
                </a:solidFill>
                <a:latin typeface="Liberation Sans"/>
              </a:rPr>
              <a:t>-1.38pp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FB6107"/>
                </a:solidFill>
                <a:latin typeface="Liberation Sans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6178143" y="4251960"/>
            <a:ext cx="2673019" cy="1325880"/>
          </a:xfrm>
          <a:prstGeom prst="rect">
            <a:avLst/>
          </a:prstGeom>
          <a:solidFill>
            <a:srgbClr val="FFE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6159" y="4343400"/>
            <a:ext cx="24169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1" i="0">
                <a:solidFill>
                  <a:srgbClr val="89877B"/>
                </a:solidFill>
                <a:latin typeface="Liberation Sans"/>
              </a:rPr>
              <a:t>ORDERS PER CUSTOMER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6159" y="4544568"/>
            <a:ext cx="241698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000" b="1" i="0">
                <a:solidFill>
                  <a:srgbClr val="FB6107"/>
                </a:solidFill>
                <a:latin typeface="Liberation Sans"/>
              </a:rPr>
              <a:t>4.82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6159" y="4983480"/>
            <a:ext cx="24169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FB6107"/>
                </a:solidFill>
                <a:latin typeface="Liberation Sans"/>
              </a:rPr>
              <a:t>-11.4%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FB6107"/>
                </a:solidFill>
                <a:latin typeface="Liberation Sans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9015755" y="4251960"/>
            <a:ext cx="2673019" cy="1325880"/>
          </a:xfrm>
          <a:prstGeom prst="rect">
            <a:avLst/>
          </a:prstGeom>
          <a:solidFill>
            <a:srgbClr val="FFE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3771" y="4343400"/>
            <a:ext cx="24169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1" i="0">
                <a:solidFill>
                  <a:srgbClr val="89877B"/>
                </a:solidFill>
                <a:latin typeface="Liberation Sans"/>
              </a:rPr>
              <a:t>AVERAGE ORDER VALUE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3771" y="4544568"/>
            <a:ext cx="241698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000" b="1" i="0">
                <a:solidFill>
                  <a:srgbClr val="FB6107"/>
                </a:solidFill>
                <a:latin typeface="Liberation Sans"/>
              </a:rPr>
              <a:t>KSh 1,619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3771" y="4983480"/>
            <a:ext cx="24169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FB6107"/>
                </a:solidFill>
                <a:latin typeface="Liberation Sans"/>
              </a:rPr>
              <a:t>-4.5%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FB6107"/>
                </a:solidFill>
                <a:latin typeface="Liberation Sans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B6107"/>
                </a:solidFill>
                <a:latin typeface="Liberation Sans"/>
              </a:rPr>
              <a:t>FRAMING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8585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27241B"/>
                </a:solidFill>
                <a:latin typeface="Liberation Sans"/>
              </a:rPr>
              <a:t>The decision this analysis exists to support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66928" cy="50292"/>
          </a:xfrm>
          <a:prstGeom prst="rect">
            <a:avLst/>
          </a:prstGeom>
          <a:solidFill>
            <a:srgbClr val="FB6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11185855" cy="1371600"/>
          </a:xfrm>
          <a:prstGeom prst="rect">
            <a:avLst/>
          </a:prstGeom>
          <a:solidFill>
            <a:srgbClr val="FFEFD5"/>
          </a:solidFill>
          <a:ln w="15875">
            <a:solidFill>
              <a:srgbClr val="2597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4592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1B6B34"/>
                </a:solidFill>
                <a:latin typeface="Liberation Sans"/>
              </a:rPr>
              <a:t>Whose plan gets rewritten next quarter — retention, pricing, or merchandising?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063240"/>
            <a:ext cx="1118585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27241B"/>
                </a:solidFill>
                <a:latin typeface="Liberation Sans"/>
              </a:rPr>
              <a:t>Group net revenue fell KSh 5.21M (10.7%). We did not lose customers — active customers rose +5.5%. We lost trips (-11.4% orders per customer) and basket (-4.5% average order value), and 71% of the damage sits in two of six stores.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892040"/>
            <a:ext cx="1118585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 i="0">
                <a:solidFill>
                  <a:srgbClr val="89877B"/>
                </a:solidFill>
                <a:latin typeface="Liberation Sans"/>
              </a:rPr>
              <a:t>A revenue decline does not need attention. It needs a small number of named owners with quantified problems.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 i="0">
                <a:solidFill>
                  <a:srgbClr val="89877B"/>
                </a:solidFill>
                <a:latin typeface="Liberation Sans"/>
              </a:rPr>
              <a:t>This deck converts one headline into four owned problems — with evidence, an expected recovery and a review date.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B6107"/>
                </a:solidFill>
                <a:latin typeface="Liberation Sans"/>
              </a:rPr>
              <a:t>THE NUMBERS, EACH AGAINST A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8585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27241B"/>
                </a:solidFill>
                <a:latin typeface="Liberation Sans"/>
              </a:rPr>
              <a:t>Executive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66928" cy="50292"/>
          </a:xfrm>
          <a:prstGeom prst="rect">
            <a:avLst/>
          </a:prstGeom>
          <a:solidFill>
            <a:srgbClr val="FB6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3606698" cy="1325880"/>
          </a:xfrm>
          <a:prstGeom prst="rect">
            <a:avLst/>
          </a:prstGeom>
          <a:solidFill>
            <a:srgbClr val="FFE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1463040"/>
            <a:ext cx="335066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1" i="0">
                <a:solidFill>
                  <a:srgbClr val="89877B"/>
                </a:solidFill>
                <a:latin typeface="Liberation Sans"/>
              </a:rPr>
              <a:t>NET 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1664208"/>
            <a:ext cx="335066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000" b="1" i="0">
                <a:solidFill>
                  <a:srgbClr val="FB6107"/>
                </a:solidFill>
                <a:latin typeface="Liberation Sans"/>
              </a:rPr>
              <a:t>KSh 43.65M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2103120"/>
            <a:ext cx="335066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FB6107"/>
                </a:solidFill>
                <a:latin typeface="Liberation Sans"/>
              </a:rPr>
              <a:t>-10.7%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FB6107"/>
                </a:solidFill>
                <a:latin typeface="Liberation Sans"/>
              </a:rPr>
              <a:t>from KSh 48.86M in Q3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371600"/>
            <a:ext cx="3606698" cy="1325880"/>
          </a:xfrm>
          <a:prstGeom prst="rect">
            <a:avLst/>
          </a:prstGeom>
          <a:solidFill>
            <a:srgbClr val="FFE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0514" y="1463040"/>
            <a:ext cx="335066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1" i="0">
                <a:solidFill>
                  <a:srgbClr val="89877B"/>
                </a:solidFill>
                <a:latin typeface="Liberation Sans"/>
              </a:rPr>
              <a:t>GROSS MARGIN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0514" y="1664208"/>
            <a:ext cx="335066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000" b="1" i="0">
                <a:solidFill>
                  <a:srgbClr val="FB6107"/>
                </a:solidFill>
                <a:latin typeface="Liberation Sans"/>
              </a:rPr>
              <a:t>18.57%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0514" y="2103120"/>
            <a:ext cx="335066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FB6107"/>
                </a:solidFill>
                <a:latin typeface="Liberation Sans"/>
              </a:rPr>
              <a:t>-1.38pp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FB6107"/>
                </a:solidFill>
                <a:latin typeface="Liberation Sans"/>
              </a:rPr>
              <a:t>gross profit KSh 8.04M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82076" y="1371600"/>
            <a:ext cx="3606698" cy="1325880"/>
          </a:xfrm>
          <a:prstGeom prst="rect">
            <a:avLst/>
          </a:prstGeom>
          <a:solidFill>
            <a:srgbClr val="FFE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0092" y="1463040"/>
            <a:ext cx="335066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1" i="0">
                <a:solidFill>
                  <a:srgbClr val="89877B"/>
                </a:solidFill>
                <a:latin typeface="Liberation Sans"/>
              </a:rPr>
              <a:t>ORDERS PER CUSTOMER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0092" y="1664208"/>
            <a:ext cx="335066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000" b="1" i="0">
                <a:solidFill>
                  <a:srgbClr val="FB6107"/>
                </a:solidFill>
                <a:latin typeface="Liberation Sans"/>
              </a:rPr>
              <a:t>4.82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0092" y="2103120"/>
            <a:ext cx="335066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FB6107"/>
                </a:solidFill>
                <a:latin typeface="Liberation Sans"/>
              </a:rPr>
              <a:t>-11.4%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FB6107"/>
                </a:solidFill>
                <a:latin typeface="Liberation Sans"/>
              </a:rPr>
              <a:t>the engine of the decline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852928"/>
            <a:ext cx="3606698" cy="1325880"/>
          </a:xfrm>
          <a:prstGeom prst="rect">
            <a:avLst/>
          </a:prstGeom>
          <a:solidFill>
            <a:srgbClr val="FFE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" y="2944368"/>
            <a:ext cx="335066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1" i="0">
                <a:solidFill>
                  <a:srgbClr val="89877B"/>
                </a:solidFill>
                <a:latin typeface="Liberation Sans"/>
              </a:rPr>
              <a:t>AVERAGE ORDER VALUE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" y="3145536"/>
            <a:ext cx="335066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000" b="1" i="0">
                <a:solidFill>
                  <a:srgbClr val="FB6107"/>
                </a:solidFill>
                <a:latin typeface="Liberation Sans"/>
              </a:rPr>
              <a:t>KSh 1,619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84448"/>
            <a:ext cx="335066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FB6107"/>
                </a:solidFill>
                <a:latin typeface="Liberation Sans"/>
              </a:rPr>
              <a:t>-4.5%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FB6107"/>
                </a:solidFill>
                <a:latin typeface="Liberation Sans"/>
              </a:rPr>
              <a:t>3.40 lines per order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2498" y="2852928"/>
            <a:ext cx="3606698" cy="1325880"/>
          </a:xfrm>
          <a:prstGeom prst="rect">
            <a:avLst/>
          </a:prstGeom>
          <a:solidFill>
            <a:srgbClr val="FFE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20514" y="2944368"/>
            <a:ext cx="335066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1" i="0">
                <a:solidFill>
                  <a:srgbClr val="89877B"/>
                </a:solidFill>
                <a:latin typeface="Liberation Sans"/>
              </a:rPr>
              <a:t>ACTIVE CUSTOMERS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20514" y="3145536"/>
            <a:ext cx="335066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000" b="1" i="0">
                <a:solidFill>
                  <a:srgbClr val="259741"/>
                </a:solidFill>
                <a:latin typeface="Liberation Sans"/>
              </a:rPr>
              <a:t>5,555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20514" y="3584448"/>
            <a:ext cx="335066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259741"/>
                </a:solidFill>
                <a:latin typeface="Liberation Sans"/>
              </a:rPr>
              <a:t>+5.5%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259741"/>
                </a:solidFill>
                <a:latin typeface="Liberation Sans"/>
              </a:rPr>
              <a:t>acquisition is NOT the problem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82076" y="2852928"/>
            <a:ext cx="3606698" cy="1325880"/>
          </a:xfrm>
          <a:prstGeom prst="rect">
            <a:avLst/>
          </a:prstGeom>
          <a:solidFill>
            <a:srgbClr val="FFE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10092" y="2944368"/>
            <a:ext cx="335066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1" i="0">
                <a:solidFill>
                  <a:srgbClr val="89877B"/>
                </a:solidFill>
                <a:latin typeface="Liberation Sans"/>
              </a:rPr>
              <a:t>REVENUE WITH NO CUSTOMER 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0092" y="3145536"/>
            <a:ext cx="335066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000" b="1" i="0">
                <a:solidFill>
                  <a:srgbClr val="27241B"/>
                </a:solidFill>
                <a:latin typeface="Liberation Sans"/>
              </a:rPr>
              <a:t>0.76%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10092" y="3584448"/>
            <a:ext cx="335066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89877B"/>
                </a:solidFill>
                <a:latin typeface="Liberation Sans"/>
              </a:rPr>
              <a:t>KSh 0.70M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89877B"/>
                </a:solidFill>
                <a:latin typeface="Liberation Sans"/>
              </a:rPr>
              <a:t>the declared coverage limit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480560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B6107"/>
                </a:solidFill>
                <a:latin typeface="Liberation Sans"/>
              </a:rPr>
              <a:t>Gross profit fell 16.9% against a 10.7% revenue fall — margin compressed 1.38pp. Revenue is not profit.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5394960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1">
                <a:solidFill>
                  <a:srgbClr val="89877B"/>
                </a:solidFill>
                <a:latin typeface="Liberation Sans"/>
              </a:rPr>
              <a:t>No naked numbers: every tile carries a year-on-year move or a target.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B6107"/>
                </a:solidFill>
                <a:latin typeface="Liberation Sans"/>
              </a:rPr>
              <a:t>FINDINGS 1–2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8585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27241B"/>
                </a:solidFill>
                <a:latin typeface="Liberation Sans"/>
              </a:rPr>
              <a:t>What the analysis found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66928" cy="50292"/>
          </a:xfrm>
          <a:prstGeom prst="rect">
            <a:avLst/>
          </a:prstGeom>
          <a:solidFill>
            <a:srgbClr val="FB6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11185855" cy="2331720"/>
          </a:xfrm>
          <a:prstGeom prst="rect">
            <a:avLst/>
          </a:prstGeom>
          <a:solidFill>
            <a:srgbClr val="FFE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82296" cy="2331720"/>
          </a:xfrm>
          <a:prstGeom prst="rect">
            <a:avLst/>
          </a:prstGeom>
          <a:solidFill>
            <a:srgbClr val="FB6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453895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7241B"/>
                </a:solidFill>
                <a:latin typeface="Liberation Sans"/>
              </a:rPr>
              <a:t>1.  We did not lose customers — we lost trips and basket size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1892807"/>
            <a:ext cx="10637215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27241B"/>
                </a:solidFill>
                <a:latin typeface="Liberation Sans"/>
              </a:rPr>
              <a:t>Active customers rose +5.5%, so acquisition is working. But orders per customer fell -11.4% and average order value fell -4.5%. The engine failed, not the funnel — and that single distinction changes who is accountable and what the fix 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044952"/>
            <a:ext cx="106372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1">
                <a:solidFill>
                  <a:srgbClr val="89877B"/>
                </a:solidFill>
                <a:latin typeface="Liberation Sans"/>
              </a:rPr>
              <a:t>So what: A funnel problem would be fixed in marketing. A frequency and basket problem is fixed in CRM, assortment and availability.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813048"/>
            <a:ext cx="11185855" cy="2331720"/>
          </a:xfrm>
          <a:prstGeom prst="rect">
            <a:avLst/>
          </a:prstGeom>
          <a:solidFill>
            <a:srgbClr val="FFE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813048"/>
            <a:ext cx="82296" cy="2331720"/>
          </a:xfrm>
          <a:prstGeom prst="rect">
            <a:avLst/>
          </a:prstGeom>
          <a:solidFill>
            <a:srgbClr val="FB6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3941063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7241B"/>
                </a:solidFill>
                <a:latin typeface="Liberation Sans"/>
              </a:rPr>
              <a:t>2.  Two of six stores carry 71% of the decline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" y="4379976"/>
            <a:ext cx="10637215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27241B"/>
                </a:solidFill>
                <a:latin typeface="Liberation Sans"/>
              </a:rPr>
              <a:t>Mombasa Nyali (-27.0%) and Thika Road (-18.7%) are not a chain-wide trend. They are two local, separately-diagnosable events inside one quarter.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5532120"/>
            <a:ext cx="106372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1">
                <a:solidFill>
                  <a:srgbClr val="89877B"/>
                </a:solidFill>
                <a:latin typeface="Liberation Sans"/>
              </a:rPr>
              <a:t>So what: Treating this as a chain-wide trend would spread a thin fix across six stores instead of a targeted fix on two.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B6107"/>
                </a:solidFill>
                <a:latin typeface="Liberation Sans"/>
              </a:rPr>
              <a:t>FINDINGS 3–4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8585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27241B"/>
                </a:solidFill>
                <a:latin typeface="Liberation Sans"/>
              </a:rPr>
              <a:t>What the analysis found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66928" cy="50292"/>
          </a:xfrm>
          <a:prstGeom prst="rect">
            <a:avLst/>
          </a:prstGeom>
          <a:solidFill>
            <a:srgbClr val="FB6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11185855" cy="2331720"/>
          </a:xfrm>
          <a:prstGeom prst="rect">
            <a:avLst/>
          </a:prstGeom>
          <a:solidFill>
            <a:srgbClr val="FFE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82296" cy="2331720"/>
          </a:xfrm>
          <a:prstGeom prst="rect">
            <a:avLst/>
          </a:prstGeom>
          <a:solidFill>
            <a:srgbClr val="FB6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453895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7241B"/>
                </a:solidFill>
                <a:latin typeface="Liberation Sans"/>
              </a:rPr>
              <a:t>3.  The largest single cost has a date, a store and an owner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1892807"/>
            <a:ext cx="10637215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27241B"/>
                </a:solidFill>
                <a:latin typeface="Liberation Sans"/>
              </a:rPr>
              <a:t>Two hero Personal Care SKUs sat off the shelf at Mombasa Nyali for 76 days (9.5% shelf availability). It cost KSh 2.16M. Only KSh 0.45M of that is Personal Care revenue — KSh 1.71M is baskets that were never started.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044952"/>
            <a:ext cx="106372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1">
                <a:solidFill>
                  <a:srgbClr val="89877B"/>
                </a:solidFill>
                <a:latin typeface="Liberation Sans"/>
              </a:rPr>
              <a:t>So what: Measuring only the affected category understates the event by roughly 4.8x. Availability failures are basket failures, not category failures.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813048"/>
            <a:ext cx="11185855" cy="2331720"/>
          </a:xfrm>
          <a:prstGeom prst="rect">
            <a:avLst/>
          </a:prstGeom>
          <a:solidFill>
            <a:srgbClr val="FFE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813048"/>
            <a:ext cx="82296" cy="2331720"/>
          </a:xfrm>
          <a:prstGeom prst="rect">
            <a:avLst/>
          </a:prstGeom>
          <a:solidFill>
            <a:srgbClr val="FB6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3941063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7241B"/>
                </a:solidFill>
                <a:latin typeface="Liberation Sans"/>
              </a:rPr>
              <a:t>4.  Discounting, not pricing, is the second lever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" y="4379976"/>
            <a:ext cx="10637215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27241B"/>
                </a:solidFill>
                <a:latin typeface="Liberation Sans"/>
              </a:rPr>
              <a:t>List price per unit rose +4.3% while discount depth went from 4.80% to 7.82% of gross — roughly an extra KSh 1.43M given away in the quarter, concentrated in Beverages (+13.05pp).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5532120"/>
            <a:ext cx="106372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1">
                <a:solidFill>
                  <a:srgbClr val="89877B"/>
                </a:solidFill>
                <a:latin typeface="Liberation Sans"/>
              </a:rPr>
              <a:t>So what: Gross profit fell faster than revenue. Price rises are being handed straight back through promotions, so margin — not just revenue — is the thing at risk.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B6107"/>
                </a:solidFill>
                <a:latin typeface="Liberation Sans"/>
              </a:rPr>
              <a:t>FINDINGS 5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8585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27241B"/>
                </a:solidFill>
                <a:latin typeface="Liberation Sans"/>
              </a:rPr>
              <a:t>What the analysis found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66928" cy="50292"/>
          </a:xfrm>
          <a:prstGeom prst="rect">
            <a:avLst/>
          </a:prstGeom>
          <a:solidFill>
            <a:srgbClr val="FB6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11185855" cy="2331720"/>
          </a:xfrm>
          <a:prstGeom prst="rect">
            <a:avLst/>
          </a:prstGeom>
          <a:solidFill>
            <a:srgbClr val="FFE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82296" cy="2331720"/>
          </a:xfrm>
          <a:prstGeom prst="rect">
            <a:avLst/>
          </a:prstGeom>
          <a:solidFill>
            <a:srgbClr val="2597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453895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7241B"/>
                </a:solidFill>
                <a:latin typeface="Liberation Sans"/>
              </a:rPr>
              <a:t>5.  Retention is healthy; the leak is trip frequency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1892807"/>
            <a:ext cx="10637215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27241B"/>
                </a:solidFill>
                <a:latin typeface="Liberation Sans"/>
              </a:rPr>
              <a:t>4,410 of 5,265 Q3 2025 customers returned (83.8%), and 1,145 new customers arrived. Churn is not the problem — the people we keep are simply shopping less often.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044952"/>
            <a:ext cx="106372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1">
                <a:solidFill>
                  <a:srgbClr val="89877B"/>
                </a:solidFill>
                <a:latin typeface="Liberation Sans"/>
              </a:rPr>
              <a:t>So what: Win-back for the 855 lapsed customers is worth doing, but the money is in raising frequency among the customers who already come back.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B6107"/>
                </a:solidFill>
                <a:latin typeface="Liberation Sans"/>
              </a:rPr>
              <a:t>THE 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8585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27241B"/>
                </a:solidFill>
                <a:latin typeface="Liberation Sans"/>
              </a:rPr>
              <a:t>One headline, three mechanisms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66928" cy="50292"/>
          </a:xfrm>
          <a:prstGeom prst="rect">
            <a:avLst/>
          </a:prstGeom>
          <a:solidFill>
            <a:srgbClr val="FB6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1_headline_waterf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98448"/>
            <a:ext cx="7382664" cy="460901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6053328"/>
            <a:ext cx="11185855" cy="566928"/>
          </a:xfrm>
          <a:prstGeom prst="rect">
            <a:avLst/>
          </a:prstGeom>
          <a:solidFill>
            <a:srgbClr val="FFE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6144768"/>
            <a:ext cx="1089324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1">
                <a:solidFill>
                  <a:srgbClr val="27241B"/>
                </a:solidFill>
                <a:latin typeface="Liberation Sans"/>
              </a:rPr>
              <a:t>The 10.7% fall is one customer gain against two larger losses — it is not one event.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3018" y="1417320"/>
            <a:ext cx="3355756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200" b="0" i="0">
                <a:solidFill>
                  <a:srgbClr val="27241B"/>
                </a:solidFill>
                <a:latin typeface="Liberation Sans"/>
              </a:rPr>
              <a:t>Customers contributed a gain of KSh +2.46M.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200" b="0" i="0">
                <a:solidFill>
                  <a:srgbClr val="27241B"/>
                </a:solidFill>
                <a:latin typeface="Liberation Sans"/>
              </a:rPr>
              <a:t>Orders per customer cost KSh -5.53M.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200" b="0" i="0">
                <a:solidFill>
                  <a:srgbClr val="27241B"/>
                </a:solidFill>
                <a:latin typeface="Liberation Sans"/>
              </a:rPr>
              <a:t>Average order value cost KSh -2.10M.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200" b="0" i="0">
                <a:solidFill>
                  <a:srgbClr val="27241B"/>
                </a:solidFill>
                <a:latin typeface="Liberation Sans"/>
              </a:rPr>
              <a:t>Frequency is the largest effect under every ordering — that is the robust result.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B6107"/>
                </a:solidFill>
                <a:latin typeface="Liberation Sans"/>
              </a:rPr>
              <a:t>THE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8585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27241B"/>
                </a:solidFill>
                <a:latin typeface="Liberation Sans"/>
              </a:rPr>
              <a:t>Customers up, frequency down: the engine failed, not the funnel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66928" cy="50292"/>
          </a:xfrm>
          <a:prstGeom prst="rect">
            <a:avLst/>
          </a:prstGeom>
          <a:solidFill>
            <a:srgbClr val="FB6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_mechanism_ident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98448"/>
            <a:ext cx="7382664" cy="443066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6053328"/>
            <a:ext cx="11185855" cy="566928"/>
          </a:xfrm>
          <a:prstGeom prst="rect">
            <a:avLst/>
          </a:prstGeom>
          <a:solidFill>
            <a:srgbClr val="FFE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6144768"/>
            <a:ext cx="1089324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1">
                <a:solidFill>
                  <a:srgbClr val="27241B"/>
                </a:solidFill>
                <a:latin typeface="Liberation Sans"/>
              </a:rPr>
              <a:t>Acquisition is working; repeat behaviour is not. Different problem, different owner.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3018" y="1417320"/>
            <a:ext cx="3355756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200" b="0" i="0">
                <a:solidFill>
                  <a:srgbClr val="27241B"/>
                </a:solidFill>
                <a:latin typeface="Liberation Sans"/>
              </a:rPr>
              <a:t>Active customers +5.5%.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200" b="0" i="0">
                <a:solidFill>
                  <a:srgbClr val="27241B"/>
                </a:solidFill>
                <a:latin typeface="Liberation Sans"/>
              </a:rPr>
              <a:t>Orders per customer -11.4%.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200" b="0" i="0">
                <a:solidFill>
                  <a:srgbClr val="27241B"/>
                </a:solidFill>
                <a:latin typeface="Liberation Sans"/>
              </a:rPr>
              <a:t>Average order value -4.5%.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200" b="0" i="0">
                <a:solidFill>
                  <a:srgbClr val="27241B"/>
                </a:solidFill>
                <a:latin typeface="Liberation Sans"/>
              </a:rPr>
              <a:t>Acquisition is working. Repeat behaviour is not.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B6107"/>
                </a:solidFill>
                <a:latin typeface="Liberation Sans"/>
              </a:rPr>
              <a:t>WHERE IT HAPPENED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8585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27241B"/>
                </a:solidFill>
                <a:latin typeface="Liberation Sans"/>
              </a:rPr>
              <a:t>Two of six stores carry the decline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66928" cy="50292"/>
          </a:xfrm>
          <a:prstGeom prst="rect">
            <a:avLst/>
          </a:prstGeom>
          <a:solidFill>
            <a:srgbClr val="FB6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3_branch_waterf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98448"/>
            <a:ext cx="7382664" cy="407501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6053328"/>
            <a:ext cx="11185855" cy="566928"/>
          </a:xfrm>
          <a:prstGeom prst="rect">
            <a:avLst/>
          </a:prstGeom>
          <a:solidFill>
            <a:srgbClr val="FFE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6144768"/>
            <a:ext cx="1089324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1">
                <a:solidFill>
                  <a:srgbClr val="27241B"/>
                </a:solidFill>
                <a:latin typeface="Liberation Sans"/>
              </a:rPr>
              <a:t>Two stores carry 71% of the decline.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3018" y="1417320"/>
            <a:ext cx="3355756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200" b="0" i="0">
                <a:solidFill>
                  <a:srgbClr val="27241B"/>
                </a:solidFill>
                <a:latin typeface="Liberation Sans"/>
              </a:rPr>
              <a:t>Mombasa Nyali: KSh -2.18M (-27.0%).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200" b="0" i="0">
                <a:solidFill>
                  <a:srgbClr val="27241B"/>
                </a:solidFill>
                <a:latin typeface="Liberation Sans"/>
              </a:rPr>
              <a:t>Thika Road: KSh -1.50M (-18.7%).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200" b="0" i="0">
                <a:solidFill>
                  <a:srgbClr val="27241B"/>
                </a:solidFill>
                <a:latin typeface="Liberation Sans"/>
              </a:rPr>
              <a:t>Two local events, not a chain-wide trend.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200" b="0" i="0">
                <a:solidFill>
                  <a:srgbClr val="27241B"/>
                </a:solidFill>
                <a:latin typeface="Liberation Sans"/>
              </a:rPr>
              <a:t>The fix must therefore be targeted, not spread thin.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B6107"/>
                </a:solidFill>
                <a:latin typeface="Liberation Sans"/>
              </a:rPr>
              <a:t>WHERE IT HAPPENED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8585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27241B"/>
                </a:solidFill>
                <a:latin typeface="Liberation Sans"/>
              </a:rPr>
              <a:t>The decline is concentrated in the intersection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66928" cy="50292"/>
          </a:xfrm>
          <a:prstGeom prst="rect">
            <a:avLst/>
          </a:prstGeom>
          <a:solidFill>
            <a:srgbClr val="FB6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4_branch_category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98448"/>
            <a:ext cx="7382664" cy="402987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6053328"/>
            <a:ext cx="11185855" cy="566928"/>
          </a:xfrm>
          <a:prstGeom prst="rect">
            <a:avLst/>
          </a:prstGeom>
          <a:solidFill>
            <a:srgbClr val="FFE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6144768"/>
            <a:ext cx="1089324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1">
                <a:solidFill>
                  <a:srgbClr val="27241B"/>
                </a:solidFill>
                <a:latin typeface="Liberation Sans"/>
              </a:rPr>
              <a:t>The decline is concentrated, not diffuse — so the fix can be too.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3018" y="1417320"/>
            <a:ext cx="3355756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200" b="0" i="0">
                <a:solidFill>
                  <a:srgbClr val="27241B"/>
                </a:solidFill>
                <a:latin typeface="Liberation Sans"/>
              </a:rPr>
              <a:t>Red-orange = decline; green = growth; the ramp is centred on 0%.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200" b="0" i="0">
                <a:solidFill>
                  <a:srgbClr val="27241B"/>
                </a:solidFill>
                <a:latin typeface="Liberation Sans"/>
              </a:rPr>
              <a:t>Mombasa Nyali and Thika Road light up across every category.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200" b="0" i="0">
                <a:solidFill>
                  <a:srgbClr val="27241B"/>
                </a:solidFill>
                <a:latin typeface="Liberation Sans"/>
              </a:rPr>
              <a:t>Concentration means the fix can be targeted too.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B6107"/>
                </a:solidFill>
                <a:latin typeface="Liberation Sans"/>
              </a:rPr>
              <a:t>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8585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27241B"/>
                </a:solidFill>
                <a:latin typeface="Liberation Sans"/>
              </a:rPr>
              <a:t>Groceries loses the most money; Beverages falls fastest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66928" cy="50292"/>
          </a:xfrm>
          <a:prstGeom prst="rect">
            <a:avLst/>
          </a:prstGeom>
          <a:solidFill>
            <a:srgbClr val="FB6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5_category_dec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98448"/>
            <a:ext cx="7382664" cy="386978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6053328"/>
            <a:ext cx="11185855" cy="566928"/>
          </a:xfrm>
          <a:prstGeom prst="rect">
            <a:avLst/>
          </a:prstGeom>
          <a:solidFill>
            <a:srgbClr val="FFE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6144768"/>
            <a:ext cx="1089324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1">
                <a:solidFill>
                  <a:srgbClr val="27241B"/>
                </a:solidFill>
                <a:latin typeface="Liberation Sans"/>
              </a:rPr>
              <a:t>Groceries is the biggest absolute loss, Beverages the fastest fall. Either alone misleads.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3018" y="1417320"/>
            <a:ext cx="3355756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200" b="0" i="0">
                <a:solidFill>
                  <a:srgbClr val="27241B"/>
                </a:solidFill>
                <a:latin typeface="Liberation Sans"/>
              </a:rPr>
              <a:t>Two denominators, two different rankings.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200" b="0" i="0">
                <a:solidFill>
                  <a:srgbClr val="27241B"/>
                </a:solidFill>
                <a:latin typeface="Liberation Sans"/>
              </a:rPr>
              <a:t>Absolute loss points at Groceries.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200" b="0" i="0">
                <a:solidFill>
                  <a:srgbClr val="27241B"/>
                </a:solidFill>
                <a:latin typeface="Liberation Sans"/>
              </a:rPr>
              <a:t>Percentage fall points at Beverages.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200" b="0" i="0">
                <a:solidFill>
                  <a:srgbClr val="27241B"/>
                </a:solidFill>
                <a:latin typeface="Liberation Sans"/>
              </a:rPr>
              <a:t>Quoting either alone would mislead the room.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B6107"/>
                </a:solidFill>
                <a:latin typeface="Liberation Sans"/>
              </a:rPr>
              <a:t>THE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8585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27241B"/>
                </a:solidFill>
                <a:latin typeface="Liberation Sans"/>
              </a:rPr>
              <a:t>The biggest single cost has a date, a store and an owner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66928" cy="50292"/>
          </a:xfrm>
          <a:prstGeom prst="rect">
            <a:avLst/>
          </a:prstGeom>
          <a:solidFill>
            <a:srgbClr val="FB6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8_stockout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98448"/>
            <a:ext cx="7382664" cy="461747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6053328"/>
            <a:ext cx="11185855" cy="566928"/>
          </a:xfrm>
          <a:prstGeom prst="rect">
            <a:avLst/>
          </a:prstGeom>
          <a:solidFill>
            <a:srgbClr val="FFE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6144768"/>
            <a:ext cx="1089324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1">
                <a:solidFill>
                  <a:srgbClr val="27241B"/>
                </a:solidFill>
                <a:latin typeface="Liberation Sans"/>
              </a:rPr>
              <a:t>9.5% availability for 76 days at Mombasa Nyali.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3018" y="1417320"/>
            <a:ext cx="3355756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200" b="0" i="0">
                <a:solidFill>
                  <a:srgbClr val="27241B"/>
                </a:solidFill>
                <a:latin typeface="Liberation Sans"/>
              </a:rPr>
              <a:t>Bath Soap 800g at Mombasa Nyali.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200" b="0" i="0">
                <a:solidFill>
                  <a:srgbClr val="27241B"/>
                </a:solidFill>
                <a:latin typeface="Liberation Sans"/>
              </a:rPr>
              <a:t>9.5% shelf availability for 76 days.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200" b="0" i="0">
                <a:solidFill>
                  <a:srgbClr val="27241B"/>
                </a:solidFill>
                <a:latin typeface="Liberation Sans"/>
              </a:rPr>
              <a:t>Total cost KSh 2.16M — of which only KSh 0.45M is the affected category.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200" b="0" i="0">
                <a:solidFill>
                  <a:srgbClr val="27241B"/>
                </a:solidFill>
                <a:latin typeface="Liberation Sans"/>
              </a:rPr>
              <a:t>KSh 1.71M is baskets that were never started.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B6107"/>
                </a:solidFill>
                <a:latin typeface="Liberation Sans"/>
              </a:rPr>
              <a:t>PRICING AND MARGIN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8585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27241B"/>
                </a:solidFill>
                <a:latin typeface="Liberation Sans"/>
              </a:rPr>
              <a:t>Prices rose, but discounting rose faster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66928" cy="50292"/>
          </a:xfrm>
          <a:prstGeom prst="rect">
            <a:avLst/>
          </a:prstGeom>
          <a:solidFill>
            <a:srgbClr val="FB6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9_discount_dep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98448"/>
            <a:ext cx="7382664" cy="438267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6053328"/>
            <a:ext cx="11185855" cy="566928"/>
          </a:xfrm>
          <a:prstGeom prst="rect">
            <a:avLst/>
          </a:prstGeom>
          <a:solidFill>
            <a:srgbClr val="FFE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6144768"/>
            <a:ext cx="1089324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1">
                <a:solidFill>
                  <a:srgbClr val="27241B"/>
                </a:solidFill>
                <a:latin typeface="Liberation Sans"/>
              </a:rPr>
              <a:t>KSh 1.43M of extra discount in one quarter.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3018" y="1417320"/>
            <a:ext cx="3355756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200" b="0" i="0">
                <a:solidFill>
                  <a:srgbClr val="27241B"/>
                </a:solidFill>
                <a:latin typeface="Liberation Sans"/>
              </a:rPr>
              <a:t>Discount depth 4.80% → 7.82% of gross.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200" b="0" i="0">
                <a:solidFill>
                  <a:srgbClr val="27241B"/>
                </a:solidFill>
                <a:latin typeface="Liberation Sans"/>
              </a:rPr>
              <a:t>Beverages alone: +13.05pp.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200" b="0" i="0">
                <a:solidFill>
                  <a:srgbClr val="27241B"/>
                </a:solidFill>
                <a:latin typeface="Liberation Sans"/>
              </a:rPr>
              <a:t>About KSh 1.43M of extra discount in one quarter.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200" b="0" i="0">
                <a:solidFill>
                  <a:srgbClr val="27241B"/>
                </a:solidFill>
                <a:latin typeface="Liberation Sans"/>
              </a:rPr>
              <a:t>Gross profit fell faster than revenue.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B6107"/>
                </a:solidFill>
                <a:latin typeface="Liberation Sans"/>
              </a:rPr>
              <a:t>WHAT TO DO ABOUT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8585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27241B"/>
                </a:solidFill>
                <a:latin typeface="Liberation Sans"/>
              </a:rPr>
              <a:t>One headline → four ranked, owned problems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66928" cy="50292"/>
          </a:xfrm>
          <a:prstGeom prst="rect">
            <a:avLst/>
          </a:prstGeom>
          <a:solidFill>
            <a:srgbClr val="FB6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0_driver_part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98448"/>
            <a:ext cx="7382664" cy="357973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6053328"/>
            <a:ext cx="11185855" cy="566928"/>
          </a:xfrm>
          <a:prstGeom prst="rect">
            <a:avLst/>
          </a:prstGeom>
          <a:solidFill>
            <a:srgbClr val="FFE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6144768"/>
            <a:ext cx="1089324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1">
                <a:solidFill>
                  <a:srgbClr val="27241B"/>
                </a:solidFill>
                <a:latin typeface="Liberation Sans"/>
              </a:rPr>
              <a:t>Disjoint and audited: the bars sum to the whole decline with no double counting.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3018" y="1417320"/>
            <a:ext cx="3355756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200" b="0" i="0">
                <a:solidFill>
                  <a:srgbClr val="27241B"/>
                </a:solidFill>
                <a:latin typeface="Liberation Sans"/>
              </a:rPr>
              <a:t>Supply Chain &amp; Merchandising — KSh -2.16M (41%).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200" b="0" i="0">
                <a:solidFill>
                  <a:srgbClr val="27241B"/>
                </a:solidFill>
                <a:latin typeface="Liberation Sans"/>
              </a:rPr>
              <a:t>Retail Operations (Thika Road) — KSh -1.49M (29%).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200" b="0" i="0">
                <a:solidFill>
                  <a:srgbClr val="27241B"/>
                </a:solidFill>
                <a:latin typeface="Liberation Sans"/>
              </a:rPr>
              <a:t>CRM / Loyalty &amp; Assortment — KSh -0.97M (19%).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200" b="0" i="0">
                <a:solidFill>
                  <a:srgbClr val="27241B"/>
                </a:solidFill>
                <a:latin typeface="Liberation Sans"/>
              </a:rPr>
              <a:t>Pricing &amp; Category Management — KSh -0.55M (11%).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200" b="0" i="0">
                <a:solidFill>
                  <a:srgbClr val="27241B"/>
                </a:solidFill>
                <a:latin typeface="Liberation Sans"/>
              </a:rPr>
              <a:t>Disjoint and audited: the bars sum to the whole decline.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B6107"/>
                </a:solidFill>
                <a:latin typeface="Liberation Sans"/>
              </a:rPr>
              <a:t>THE ACTION REGISTER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8585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27241B"/>
                </a:solidFill>
                <a:latin typeface="Liberation Sans"/>
              </a:rPr>
              <a:t>Ranked problems, owners and expected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66928" cy="50292"/>
          </a:xfrm>
          <a:prstGeom prst="rect">
            <a:avLst/>
          </a:prstGeom>
          <a:solidFill>
            <a:srgbClr val="FB6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17320"/>
          <a:ext cx="111556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377440"/>
                <a:gridCol w="4846320"/>
                <a:gridCol w="1371600"/>
                <a:gridCol w="2103120"/>
              </a:tblGrid>
              <a:tr h="402336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27241B"/>
                          </a:solidFill>
                          <a:latin typeface="Liberation Sans"/>
                        </a:rPr>
                        <a:t>#</a:t>
                      </a:r>
                    </a:p>
                  </a:txBody>
                  <a:tcPr>
                    <a:solidFill>
                      <a:srgbClr val="FFEF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27241B"/>
                          </a:solidFill>
                          <a:latin typeface="Liberation Sans"/>
                        </a:rPr>
                        <a:t>Owner</a:t>
                      </a:r>
                    </a:p>
                  </a:txBody>
                  <a:tcPr>
                    <a:solidFill>
                      <a:srgbClr val="FFEF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27241B"/>
                          </a:solidFill>
                          <a:latin typeface="Liberation Sans"/>
                        </a:rPr>
                        <a:t>The problem</a:t>
                      </a:r>
                    </a:p>
                  </a:txBody>
                  <a:tcPr>
                    <a:solidFill>
                      <a:srgbClr val="FFEF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27241B"/>
                          </a:solidFill>
                          <a:latin typeface="Liberation Sans"/>
                        </a:rPr>
                        <a:t>Cost</a:t>
                      </a:r>
                    </a:p>
                  </a:txBody>
                  <a:tcPr>
                    <a:solidFill>
                      <a:srgbClr val="FFEF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27241B"/>
                          </a:solidFill>
                          <a:latin typeface="Liberation Sans"/>
                        </a:rPr>
                        <a:t>Share of decline</a:t>
                      </a:r>
                    </a:p>
                  </a:txBody>
                  <a:tcPr>
                    <a:solidFill>
                      <a:srgbClr val="FFEFD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7241B"/>
                          </a:solidFill>
                          <a:latin typeface="Liberation Sans"/>
                        </a:rPr>
                        <a:t>1</a:t>
                      </a:r>
                    </a:p>
                  </a:txBody>
                  <a:tcPr>
                    <a:solidFill>
                      <a:srgbClr val="FFFD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7241B"/>
                          </a:solidFill>
                          <a:latin typeface="Liberation Sans"/>
                        </a:rPr>
                        <a:t>Supply Chain &amp; Merchandising</a:t>
                      </a:r>
                    </a:p>
                  </a:txBody>
                  <a:tcPr>
                    <a:solidFill>
                      <a:srgbClr val="FFFD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7241B"/>
                          </a:solidFill>
                          <a:latin typeface="Liberation Sans"/>
                        </a:rPr>
                        <a:t>Two hero Personal Care SKUs out of stock for six weeks at Mombasa Nyali; the damage spread to whole baskets</a:t>
                      </a:r>
                    </a:p>
                  </a:txBody>
                  <a:tcPr>
                    <a:solidFill>
                      <a:srgbClr val="FFFD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7241B"/>
                          </a:solidFill>
                          <a:latin typeface="Liberation Sans"/>
                        </a:rPr>
                        <a:t>KSh -2.16M</a:t>
                      </a:r>
                    </a:p>
                  </a:txBody>
                  <a:tcPr>
                    <a:solidFill>
                      <a:srgbClr val="FFFD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7241B"/>
                          </a:solidFill>
                          <a:latin typeface="Liberation Sans"/>
                        </a:rPr>
                        <a:t>41%</a:t>
                      </a:r>
                    </a:p>
                  </a:txBody>
                  <a:tcPr>
                    <a:solidFill>
                      <a:srgbClr val="FFFDF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7241B"/>
                          </a:solidFill>
                          <a:latin typeface="Liberation Sans"/>
                        </a:rPr>
                        <a:t>2</a:t>
                      </a:r>
                    </a:p>
                  </a:txBody>
                  <a:tcPr>
                    <a:solidFill>
                      <a:srgbClr val="FFEF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7241B"/>
                          </a:solidFill>
                          <a:latin typeface="Liberation Sans"/>
                        </a:rPr>
                        <a:t>Retail Operations (Thika Road)</a:t>
                      </a:r>
                    </a:p>
                  </a:txBody>
                  <a:tcPr>
                    <a:solidFill>
                      <a:srgbClr val="FFEF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7241B"/>
                          </a:solidFill>
                          <a:latin typeface="Liberation Sans"/>
                        </a:rPr>
                        <a:t>Thika Road footfall cut for the full quarter — visits per customer well below every other store</a:t>
                      </a:r>
                    </a:p>
                  </a:txBody>
                  <a:tcPr>
                    <a:solidFill>
                      <a:srgbClr val="FFEF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7241B"/>
                          </a:solidFill>
                          <a:latin typeface="Liberation Sans"/>
                        </a:rPr>
                        <a:t>KSh -1.49M</a:t>
                      </a:r>
                    </a:p>
                  </a:txBody>
                  <a:tcPr>
                    <a:solidFill>
                      <a:srgbClr val="FFEF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7241B"/>
                          </a:solidFill>
                          <a:latin typeface="Liberation Sans"/>
                        </a:rPr>
                        <a:t>29%</a:t>
                      </a:r>
                    </a:p>
                  </a:txBody>
                  <a:tcPr>
                    <a:solidFill>
                      <a:srgbClr val="FFEFD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7241B"/>
                          </a:solidFill>
                          <a:latin typeface="Liberation Sans"/>
                        </a:rPr>
                        <a:t>3</a:t>
                      </a:r>
                    </a:p>
                  </a:txBody>
                  <a:tcPr>
                    <a:solidFill>
                      <a:srgbClr val="FFFD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7241B"/>
                          </a:solidFill>
                          <a:latin typeface="Liberation Sans"/>
                        </a:rPr>
                        <a:t>CRM / Loyalty &amp; Assortment</a:t>
                      </a:r>
                    </a:p>
                  </a:txBody>
                  <a:tcPr>
                    <a:solidFill>
                      <a:srgbClr val="FFFD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7241B"/>
                          </a:solidFill>
                          <a:latin typeface="Liberation Sans"/>
                        </a:rPr>
                        <a:t>Residual: fewer trips per customer and slimmer baskets right across the chain</a:t>
                      </a:r>
                    </a:p>
                  </a:txBody>
                  <a:tcPr>
                    <a:solidFill>
                      <a:srgbClr val="FFFD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7241B"/>
                          </a:solidFill>
                          <a:latin typeface="Liberation Sans"/>
                        </a:rPr>
                        <a:t>KSh -0.97M</a:t>
                      </a:r>
                    </a:p>
                  </a:txBody>
                  <a:tcPr>
                    <a:solidFill>
                      <a:srgbClr val="FFFD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7241B"/>
                          </a:solidFill>
                          <a:latin typeface="Liberation Sans"/>
                        </a:rPr>
                        <a:t>19%</a:t>
                      </a:r>
                    </a:p>
                  </a:txBody>
                  <a:tcPr>
                    <a:solidFill>
                      <a:srgbClr val="FFFDF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7241B"/>
                          </a:solidFill>
                          <a:latin typeface="Liberation Sans"/>
                        </a:rPr>
                        <a:t>4</a:t>
                      </a:r>
                    </a:p>
                  </a:txBody>
                  <a:tcPr>
                    <a:solidFill>
                      <a:srgbClr val="FFEF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7241B"/>
                          </a:solidFill>
                          <a:latin typeface="Liberation Sans"/>
                        </a:rPr>
                        <a:t>Pricing &amp; Category Management</a:t>
                      </a:r>
                    </a:p>
                  </a:txBody>
                  <a:tcPr>
                    <a:solidFill>
                      <a:srgbClr val="FFEF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7241B"/>
                          </a:solidFill>
                          <a:latin typeface="Liberation Sans"/>
                        </a:rPr>
                        <a:t>Beverage promotional depth deepened sharply outside the two affected stores</a:t>
                      </a:r>
                    </a:p>
                  </a:txBody>
                  <a:tcPr>
                    <a:solidFill>
                      <a:srgbClr val="FFEF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7241B"/>
                          </a:solidFill>
                          <a:latin typeface="Liberation Sans"/>
                        </a:rPr>
                        <a:t>KSh -0.55M</a:t>
                      </a:r>
                    </a:p>
                  </a:txBody>
                  <a:tcPr>
                    <a:solidFill>
                      <a:srgbClr val="FFEF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7241B"/>
                          </a:solidFill>
                          <a:latin typeface="Liberation Sans"/>
                        </a:rPr>
                        <a:t>11%</a:t>
                      </a:r>
                    </a:p>
                  </a:txBody>
                  <a:tcPr>
                    <a:solidFill>
                      <a:srgbClr val="FFEFD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3840480"/>
            <a:ext cx="1118585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00" b="0" i="0">
                <a:solidFill>
                  <a:srgbClr val="27241B"/>
                </a:solidFill>
                <a:latin typeface="Liberation Sans"/>
              </a:rPr>
              <a:t>Days 0–30: rebuild safety stock on the hero SKUs; cap beverage discount depth with an approval gate.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00" b="0" i="0">
                <a:solidFill>
                  <a:srgbClr val="27241B"/>
                </a:solidFill>
                <a:latin typeface="Liberation Sans"/>
              </a:rPr>
              <a:t>Days 30–60: rebuild the Mombasa basket; Thika Road access recovery with the landlord and county.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00" b="0" i="0">
                <a:solidFill>
                  <a:srgbClr val="27241B"/>
                </a:solidFill>
                <a:latin typeface="Liberation Sans"/>
              </a:rPr>
              <a:t>Days 60–90: win-back and second-purchase nudges to fix the frequency leak.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00" b="0" i="0">
                <a:solidFill>
                  <a:srgbClr val="27241B"/>
                </a:solidFill>
                <a:latin typeface="Liberation Sans"/>
              </a:rPr>
              <a:t>Continuous: capture a customer ID on every transaction and log supplier lead times.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B6107"/>
                </a:solidFill>
                <a:latin typeface="Liberation Sans"/>
              </a:rPr>
              <a:t>INTELLECTUAL HONESTY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8585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27241B"/>
                </a:solidFill>
                <a:latin typeface="Liberation Sans"/>
              </a:rPr>
              <a:t>Facts, hypotheses, and the edge of what we know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66928" cy="50292"/>
          </a:xfrm>
          <a:prstGeom prst="rect">
            <a:avLst/>
          </a:prstGeom>
          <a:solidFill>
            <a:srgbClr val="FB6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71600"/>
          <a:ext cx="1115568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1463040"/>
                <a:gridCol w="4663440"/>
              </a:tblGrid>
              <a:tr h="448056">
                <a:tc>
                  <a:txBody>
                    <a:bodyPr/>
                    <a:lstStyle/>
                    <a:p>
                      <a:r>
                        <a:rPr b="1" sz="1150">
                          <a:solidFill>
                            <a:srgbClr val="27241B"/>
                          </a:solidFill>
                          <a:latin typeface="Liberation Sans"/>
                        </a:rPr>
                        <a:t>Statement</a:t>
                      </a:r>
                    </a:p>
                  </a:txBody>
                  <a:tcPr>
                    <a:solidFill>
                      <a:srgbClr val="FFEF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50">
                          <a:solidFill>
                            <a:srgbClr val="27241B"/>
                          </a:solidFill>
                          <a:latin typeface="Liberation Sans"/>
                        </a:rPr>
                        <a:t>Tier</a:t>
                      </a:r>
                    </a:p>
                  </a:txBody>
                  <a:tcPr>
                    <a:solidFill>
                      <a:srgbClr val="FFEF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50">
                          <a:solidFill>
                            <a:srgbClr val="27241B"/>
                          </a:solidFill>
                          <a:latin typeface="Liberation Sans"/>
                        </a:rPr>
                        <a:t>Note</a:t>
                      </a:r>
                    </a:p>
                  </a:txBody>
                  <a:tcPr>
                    <a:solidFill>
                      <a:srgbClr val="FFEFD5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7241B"/>
                          </a:solidFill>
                          <a:latin typeface="Liberation Sans"/>
                        </a:rPr>
                        <a:t>Revenue fell 10.7%; gross profit fell 16.9%</a:t>
                      </a:r>
                    </a:p>
                  </a:txBody>
                  <a:tcPr>
                    <a:solidFill>
                      <a:srgbClr val="FFFD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59741"/>
                          </a:solidFill>
                          <a:latin typeface="Liberation Sans"/>
                        </a:rPr>
                        <a:t>Fact</a:t>
                      </a:r>
                    </a:p>
                  </a:txBody>
                  <a:tcPr>
                    <a:solidFill>
                      <a:srgbClr val="FFFD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7241B"/>
                          </a:solidFill>
                          <a:latin typeface="Liberation Sans"/>
                        </a:rPr>
                        <a:t>measured from the cleaned star schema</a:t>
                      </a:r>
                    </a:p>
                  </a:txBody>
                  <a:tcPr>
                    <a:solidFill>
                      <a:srgbClr val="FFFDF0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7241B"/>
                          </a:solidFill>
                          <a:latin typeface="Liberation Sans"/>
                        </a:rPr>
                        <a:t>Two stores explain 71% of the decline</a:t>
                      </a:r>
                    </a:p>
                  </a:txBody>
                  <a:tcPr>
                    <a:solidFill>
                      <a:srgbClr val="FFEF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59741"/>
                          </a:solidFill>
                          <a:latin typeface="Liberation Sans"/>
                        </a:rPr>
                        <a:t>Fact</a:t>
                      </a:r>
                    </a:p>
                  </a:txBody>
                  <a:tcPr>
                    <a:solidFill>
                      <a:srgbClr val="FFEF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7241B"/>
                          </a:solidFill>
                          <a:latin typeface="Liberation Sans"/>
                        </a:rPr>
                        <a:t>measured; contribution shares sum to the group change</a:t>
                      </a:r>
                    </a:p>
                  </a:txBody>
                  <a:tcPr>
                    <a:solidFill>
                      <a:srgbClr val="FFEFD5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7241B"/>
                          </a:solidFill>
                          <a:latin typeface="Liberation Sans"/>
                        </a:rPr>
                        <a:t>Hero SKUs were 9.5% available for 76 days at Mombasa Nyali</a:t>
                      </a:r>
                    </a:p>
                  </a:txBody>
                  <a:tcPr>
                    <a:solidFill>
                      <a:srgbClr val="FFFD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59741"/>
                          </a:solidFill>
                          <a:latin typeface="Liberation Sans"/>
                        </a:rPr>
                        <a:t>Fact</a:t>
                      </a:r>
                    </a:p>
                  </a:txBody>
                  <a:tcPr>
                    <a:solidFill>
                      <a:srgbClr val="FFFD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7241B"/>
                          </a:solidFill>
                          <a:latin typeface="Liberation Sans"/>
                        </a:rPr>
                        <a:t>from the branch x SKU x day availability table</a:t>
                      </a:r>
                    </a:p>
                  </a:txBody>
                  <a:tcPr>
                    <a:solidFill>
                      <a:srgbClr val="FFFDF0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7241B"/>
                          </a:solidFill>
                          <a:latin typeface="Liberation Sans"/>
                        </a:rPr>
                        <a:t>Active customers rose +5.5% while frequency fell -11.4%</a:t>
                      </a:r>
                    </a:p>
                  </a:txBody>
                  <a:tcPr>
                    <a:solidFill>
                      <a:srgbClr val="FFEF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59741"/>
                          </a:solidFill>
                          <a:latin typeface="Liberation Sans"/>
                        </a:rPr>
                        <a:t>Fact</a:t>
                      </a:r>
                    </a:p>
                  </a:txBody>
                  <a:tcPr>
                    <a:solidFill>
                      <a:srgbClr val="FFEF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7241B"/>
                          </a:solidFill>
                          <a:latin typeface="Liberation Sans"/>
                        </a:rPr>
                        <a:t>the mechanism identity, order-independent attribution</a:t>
                      </a:r>
                    </a:p>
                  </a:txBody>
                  <a:tcPr>
                    <a:solidFill>
                      <a:srgbClr val="FFEFD5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7241B"/>
                          </a:solidFill>
                          <a:latin typeface="Liberation Sans"/>
                        </a:rPr>
                        <a:t>The stock-out *caused* the basket erosion at that store</a:t>
                      </a:r>
                    </a:p>
                  </a:txBody>
                  <a:tcPr>
                    <a:solidFill>
                      <a:srgbClr val="FFFD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B6107"/>
                          </a:solidFill>
                          <a:latin typeface="Liberation Sans"/>
                        </a:rPr>
                        <a:t>Hypothesis</a:t>
                      </a:r>
                    </a:p>
                  </a:txBody>
                  <a:tcPr>
                    <a:solidFill>
                      <a:srgbClr val="FFFD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7241B"/>
                          </a:solidFill>
                          <a:latin typeface="Liberation Sans"/>
                        </a:rPr>
                        <a:t>the two co-move exactly in time; no causal test was run</a:t>
                      </a:r>
                    </a:p>
                  </a:txBody>
                  <a:tcPr>
                    <a:solidFill>
                      <a:srgbClr val="FFFDF0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7241B"/>
                          </a:solidFill>
                          <a:latin typeface="Liberation Sans"/>
                        </a:rPr>
                        <a:t>Single-sourcing or no safety stock caused the stock-out</a:t>
                      </a:r>
                    </a:p>
                  </a:txBody>
                  <a:tcPr>
                    <a:solidFill>
                      <a:srgbClr val="FFEF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B6107"/>
                          </a:solidFill>
                          <a:latin typeface="Liberation Sans"/>
                        </a:rPr>
                        <a:t>Hypothesis</a:t>
                      </a:r>
                    </a:p>
                  </a:txBody>
                  <a:tcPr>
                    <a:solidFill>
                      <a:srgbClr val="FFEF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7241B"/>
                          </a:solidFill>
                          <a:latin typeface="Liberation Sans"/>
                        </a:rPr>
                        <a:t>no procurement, supplier or lead-time data in this extract</a:t>
                      </a:r>
                    </a:p>
                  </a:txBody>
                  <a:tcPr>
                    <a:solidFill>
                      <a:srgbClr val="FFEFD5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7241B"/>
                          </a:solidFill>
                          <a:latin typeface="Liberation Sans"/>
                        </a:rPr>
                        <a:t>Thika Road's decline is due to the road-works</a:t>
                      </a:r>
                    </a:p>
                  </a:txBody>
                  <a:tcPr>
                    <a:solidFill>
                      <a:srgbClr val="FFFD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B6107"/>
                          </a:solidFill>
                          <a:latin typeface="Liberation Sans"/>
                        </a:rPr>
                        <a:t>Hypothesis</a:t>
                      </a:r>
                    </a:p>
                  </a:txBody>
                  <a:tcPr>
                    <a:solidFill>
                      <a:srgbClr val="FFFD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7241B"/>
                          </a:solidFill>
                          <a:latin typeface="Liberation Sans"/>
                        </a:rPr>
                        <a:t>the frequency-only signature is consistent with an access problem; no other local factor is recorded</a:t>
                      </a:r>
                    </a:p>
                  </a:txBody>
                  <a:tcPr>
                    <a:solidFill>
                      <a:srgbClr val="FFFDF0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7241B"/>
                          </a:solidFill>
                          <a:latin typeface="Liberation Sans"/>
                        </a:rPr>
                        <a:t>Kisumu Lakefront's -11.5%</a:t>
                      </a:r>
                    </a:p>
                  </a:txBody>
                  <a:tcPr>
                    <a:solidFill>
                      <a:srgbClr val="FFEF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89877B"/>
                          </a:solidFill>
                          <a:latin typeface="Liberation Sans"/>
                        </a:rPr>
                        <a:t>Unexplained</a:t>
                      </a:r>
                    </a:p>
                  </a:txBody>
                  <a:tcPr>
                    <a:solidFill>
                      <a:srgbClr val="FFEF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7241B"/>
                          </a:solidFill>
                          <a:latin typeface="Liberation Sans"/>
                        </a:rPr>
                        <a:t>flagged, deliberately not back-filled with a story</a:t>
                      </a:r>
                    </a:p>
                  </a:txBody>
                  <a:tcPr>
                    <a:solidFill>
                      <a:srgbClr val="FFEFD5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7241B"/>
                          </a:solidFill>
                          <a:latin typeface="Liberation Sans"/>
                        </a:rPr>
                        <a:t>855 Q3 2025 customers did not return</a:t>
                      </a:r>
                    </a:p>
                  </a:txBody>
                  <a:tcPr>
                    <a:solidFill>
                      <a:srgbClr val="FFFD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59741"/>
                          </a:solidFill>
                          <a:latin typeface="Liberation Sans"/>
                        </a:rPr>
                        <a:t>Fact</a:t>
                      </a:r>
                    </a:p>
                  </a:txBody>
                  <a:tcPr>
                    <a:solidFill>
                      <a:srgbClr val="FFFD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7241B"/>
                          </a:solidFill>
                          <a:latin typeface="Liberation Sans"/>
                        </a:rPr>
                        <a:t>but 83.8% did — churn is not the problem</a:t>
                      </a:r>
                    </a:p>
                  </a:txBody>
                  <a:tcPr>
                    <a:solidFill>
                      <a:srgbClr val="FFFD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B6107"/>
                </a:solidFill>
                <a:latin typeface="Liberation Sans"/>
              </a:rPr>
              <a:t>MONITORING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8585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27241B"/>
                </a:solidFill>
                <a:latin typeface="Liberation Sans"/>
              </a:rPr>
              <a:t>How we will know whether it worked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66928" cy="50292"/>
          </a:xfrm>
          <a:prstGeom prst="rect">
            <a:avLst/>
          </a:prstGeom>
          <a:solidFill>
            <a:srgbClr val="FB6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17320"/>
          <a:ext cx="11155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2103120"/>
                <a:gridCol w="2560320"/>
                <a:gridCol w="2468880"/>
              </a:tblGrid>
              <a:tr h="396240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27241B"/>
                          </a:solidFill>
                          <a:latin typeface="Liberation Sans"/>
                        </a:rPr>
                        <a:t>Metric</a:t>
                      </a:r>
                    </a:p>
                  </a:txBody>
                  <a:tcPr>
                    <a:solidFill>
                      <a:srgbClr val="FFEF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27241B"/>
                          </a:solidFill>
                          <a:latin typeface="Liberation Sans"/>
                        </a:rPr>
                        <a:t>Baseline</a:t>
                      </a:r>
                    </a:p>
                  </a:txBody>
                  <a:tcPr>
                    <a:solidFill>
                      <a:srgbClr val="FFEF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27241B"/>
                          </a:solidFill>
                          <a:latin typeface="Liberation Sans"/>
                        </a:rPr>
                        <a:t>Target by Q1 FY2027</a:t>
                      </a:r>
                    </a:p>
                  </a:txBody>
                  <a:tcPr>
                    <a:solidFill>
                      <a:srgbClr val="FFEF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27241B"/>
                          </a:solidFill>
                          <a:latin typeface="Liberation Sans"/>
                        </a:rPr>
                        <a:t>Watched by</a:t>
                      </a:r>
                    </a:p>
                  </a:txBody>
                  <a:tcPr>
                    <a:solidFill>
                      <a:srgbClr val="FFEFD5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7241B"/>
                          </a:solidFill>
                          <a:latin typeface="Liberation Sans"/>
                        </a:rPr>
                        <a:t>Orders per customer</a:t>
                      </a:r>
                    </a:p>
                  </a:txBody>
                  <a:tcPr>
                    <a:solidFill>
                      <a:srgbClr val="FFFD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7241B"/>
                          </a:solidFill>
                          <a:latin typeface="Liberation Sans"/>
                        </a:rPr>
                        <a:t>5.44</a:t>
                      </a:r>
                    </a:p>
                  </a:txBody>
                  <a:tcPr>
                    <a:solidFill>
                      <a:srgbClr val="FFFD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7241B"/>
                          </a:solidFill>
                          <a:latin typeface="Liberation Sans"/>
                        </a:rPr>
                        <a:t>back above 5.44</a:t>
                      </a:r>
                    </a:p>
                  </a:txBody>
                  <a:tcPr>
                    <a:solidFill>
                      <a:srgbClr val="FFFD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7241B"/>
                          </a:solidFill>
                          <a:latin typeface="Liberation Sans"/>
                        </a:rPr>
                        <a:t>CRM</a:t>
                      </a:r>
                    </a:p>
                  </a:txBody>
                  <a:tcPr>
                    <a:solidFill>
                      <a:srgbClr val="FFFDF0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7241B"/>
                          </a:solidFill>
                          <a:latin typeface="Liberation Sans"/>
                        </a:rPr>
                        <a:t>Hero SKU shelf availability (Mombasa)</a:t>
                      </a:r>
                    </a:p>
                  </a:txBody>
                  <a:tcPr>
                    <a:solidFill>
                      <a:srgbClr val="FFEF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7241B"/>
                          </a:solidFill>
                          <a:latin typeface="Liberation Sans"/>
                        </a:rPr>
                        <a:t>9.5%</a:t>
                      </a:r>
                    </a:p>
                  </a:txBody>
                  <a:tcPr>
                    <a:solidFill>
                      <a:srgbClr val="FFEF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7241B"/>
                          </a:solidFill>
                          <a:latin typeface="Liberation Sans"/>
                        </a:rPr>
                        <a:t>&gt;99%</a:t>
                      </a:r>
                    </a:p>
                  </a:txBody>
                  <a:tcPr>
                    <a:solidFill>
                      <a:srgbClr val="FFEF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7241B"/>
                          </a:solidFill>
                          <a:latin typeface="Liberation Sans"/>
                        </a:rPr>
                        <a:t>Supply Chain</a:t>
                      </a:r>
                    </a:p>
                  </a:txBody>
                  <a:tcPr>
                    <a:solidFill>
                      <a:srgbClr val="FFEFD5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7241B"/>
                          </a:solidFill>
                          <a:latin typeface="Liberation Sans"/>
                        </a:rPr>
                        <a:t>Thika Road visits per customer</a:t>
                      </a:r>
                    </a:p>
                  </a:txBody>
                  <a:tcPr>
                    <a:solidFill>
                      <a:srgbClr val="FFFD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7241B"/>
                          </a:solidFill>
                          <a:latin typeface="Liberation Sans"/>
                        </a:rPr>
                        <a:t>-23.7% YoY</a:t>
                      </a:r>
                    </a:p>
                  </a:txBody>
                  <a:tcPr>
                    <a:solidFill>
                      <a:srgbClr val="FFFD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7241B"/>
                          </a:solidFill>
                          <a:latin typeface="Liberation Sans"/>
                        </a:rPr>
                        <a:t>&gt;0% YoY</a:t>
                      </a:r>
                    </a:p>
                  </a:txBody>
                  <a:tcPr>
                    <a:solidFill>
                      <a:srgbClr val="FFFD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7241B"/>
                          </a:solidFill>
                          <a:latin typeface="Liberation Sans"/>
                        </a:rPr>
                        <a:t>Retail Ops</a:t>
                      </a:r>
                    </a:p>
                  </a:txBody>
                  <a:tcPr>
                    <a:solidFill>
                      <a:srgbClr val="FFFDF0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7241B"/>
                          </a:solidFill>
                          <a:latin typeface="Liberation Sans"/>
                        </a:rPr>
                        <a:t>Beverage discount depth</a:t>
                      </a:r>
                    </a:p>
                  </a:txBody>
                  <a:tcPr>
                    <a:solidFill>
                      <a:srgbClr val="FFEF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7241B"/>
                          </a:solidFill>
                          <a:latin typeface="Liberation Sans"/>
                        </a:rPr>
                        <a:t>7.82% of gross</a:t>
                      </a:r>
                    </a:p>
                  </a:txBody>
                  <a:tcPr>
                    <a:solidFill>
                      <a:srgbClr val="FFEF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7241B"/>
                          </a:solidFill>
                          <a:latin typeface="Liberation Sans"/>
                        </a:rPr>
                        <a:t>&lt;= 4.80%</a:t>
                      </a:r>
                    </a:p>
                  </a:txBody>
                  <a:tcPr>
                    <a:solidFill>
                      <a:srgbClr val="FFEF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7241B"/>
                          </a:solidFill>
                          <a:latin typeface="Liberation Sans"/>
                        </a:rPr>
                        <a:t>Pricing</a:t>
                      </a:r>
                    </a:p>
                  </a:txBody>
                  <a:tcPr>
                    <a:solidFill>
                      <a:srgbClr val="FFEFD5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7241B"/>
                          </a:solidFill>
                          <a:latin typeface="Liberation Sans"/>
                        </a:rPr>
                        <a:t>Gross margin</a:t>
                      </a:r>
                    </a:p>
                  </a:txBody>
                  <a:tcPr>
                    <a:solidFill>
                      <a:srgbClr val="FFFD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7241B"/>
                          </a:solidFill>
                          <a:latin typeface="Liberation Sans"/>
                        </a:rPr>
                        <a:t>18.57%</a:t>
                      </a:r>
                    </a:p>
                  </a:txBody>
                  <a:tcPr>
                    <a:solidFill>
                      <a:srgbClr val="FFFD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7241B"/>
                          </a:solidFill>
                          <a:latin typeface="Liberation Sans"/>
                        </a:rPr>
                        <a:t>back above 19.95%</a:t>
                      </a:r>
                    </a:p>
                  </a:txBody>
                  <a:tcPr>
                    <a:solidFill>
                      <a:srgbClr val="FFFD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7241B"/>
                          </a:solidFill>
                          <a:latin typeface="Liberation Sans"/>
                        </a:rPr>
                        <a:t>Finance</a:t>
                      </a:r>
                    </a:p>
                  </a:txBody>
                  <a:tcPr>
                    <a:solidFill>
                      <a:srgbClr val="FFFDF0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4160520"/>
            <a:ext cx="11185855" cy="1463040"/>
          </a:xfrm>
          <a:prstGeom prst="rect">
            <a:avLst/>
          </a:prstGeom>
          <a:solidFill>
            <a:srgbClr val="FFEFD5"/>
          </a:solidFill>
          <a:ln w="15875">
            <a:solidFill>
              <a:srgbClr val="FB61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370832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 i="0">
                <a:solidFill>
                  <a:srgbClr val="27241B"/>
                </a:solidFill>
                <a:latin typeface="Liberation Sans"/>
              </a:rPr>
              <a:t>The uncomfortable test: if the people who receive this deck make the same decisions they made last quarter, it was decoration.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 i="0">
                <a:solidFill>
                  <a:srgbClr val="27241B"/>
                </a:solidFill>
                <a:latin typeface="Liberation Sans"/>
              </a:rPr>
              <a:t>Follow up in 90 days: did the decision change, and did the recommendation work?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