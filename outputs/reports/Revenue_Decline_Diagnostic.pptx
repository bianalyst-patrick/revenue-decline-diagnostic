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 line: Group net revenue fell KSh 5.21M (10.7%). We did not lose customers — active customers rose +5.5%. We lost trips (-11.4% orders per customer) and basket (-4.5% average order value), and 71% of the damage sits in two of six stores.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decision, not the method. If nobody's plan changes, the analysis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tiles, six comparisons. The one to dwell on is orders per customer — it is the engine of the whole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finding carries a so-what. A finding without a consequence is trivia.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finding carries a so-what. A finding without a consequence is trivia.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finding carries a so-what. A finding without a consequence is trivia.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10.7% fall is one customer gain against two larger losses — it is not one event.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Acquisition is working; repeat behaviour is not. Different problem, different 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stores carry 71% of the decline.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decline is concentrated, not diffuse — so the fix can be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Groceries is the biggest absolute loss, Beverages the fastest fall. Either alone misleads.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9.5% availability for 76 days at Mombasa Nyali.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KSh 1.43M of extra discount in one quarter.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Disjoint and audited: the bars sum to the whole decline with no double counting.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cheap reversible actions first. The policy change and the purchase order can start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senior analysis is judged as much by what it refuses to claim. The Kisumu figure is flagged and deliberately not back-filled with a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follow-up date in the room. An analysis that never checks its own predictions never improves.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8585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B6107"/>
                </a:solidFill>
                <a:latin typeface="Liberation Sans"/>
              </a:rPr>
              <a:t>MAVUNO HOME &amp; 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8585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i="0">
                <a:solidFill>
                  <a:srgbClr val="1B6B34"/>
                </a:solidFill>
                <a:latin typeface="Liberation Sans"/>
              </a:rPr>
              <a:t>Revenue Decline Diagnostic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395728"/>
            <a:ext cx="11185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27241B"/>
                </a:solidFill>
                <a:latin typeface="Liberation Sans"/>
              </a:rPr>
              <a:t>Why group revenue fell 10.7% — and who owns each cause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218688"/>
            <a:ext cx="1005840" cy="64008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347472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89877B"/>
                </a:solidFill>
                <a:latin typeface="Liberation Sans"/>
              </a:rPr>
              <a:t>Q3 2026 vs Q3 2025   ·   prepared 2026-10-05   ·   Senior Data Analyst   ·   Internal — Commercial leadership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251960"/>
            <a:ext cx="2673019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" y="4343400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NET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4544568"/>
            <a:ext cx="24169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KSh 43.65M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" y="4983480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-10.7%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3340531" y="4251960"/>
            <a:ext cx="2673019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68547" y="4343400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GROSS MARGIN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8547" y="4544568"/>
            <a:ext cx="24169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18.57%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8547" y="4983480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-1.38pp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178143" y="4251960"/>
            <a:ext cx="2673019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6159" y="4343400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ORDERS PER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6159" y="4544568"/>
            <a:ext cx="24169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4.82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6159" y="4983480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-11.4%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9015755" y="4251960"/>
            <a:ext cx="2673019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3771" y="4343400"/>
            <a:ext cx="241698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AVERAGE ORDER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771" y="4544568"/>
            <a:ext cx="241698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KSh 1,619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771" y="4983480"/>
            <a:ext cx="24169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-4.5%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The decision this analysis exists to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11185855" cy="1371600"/>
          </a:xfrm>
          <a:prstGeom prst="rect">
            <a:avLst/>
          </a:prstGeom>
          <a:solidFill>
            <a:srgbClr val="FFEFD5"/>
          </a:solidFill>
          <a:ln w="15875">
            <a:solidFill>
              <a:srgbClr val="259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1063721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 i="0">
                <a:solidFill>
                  <a:srgbClr val="1B6B34"/>
                </a:solidFill>
                <a:latin typeface="Liberation Sans"/>
              </a:rPr>
              <a:t>Whose plan gets rewritten next quarter — retention, pricing, or merchandising?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111858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600" b="0" i="0">
                <a:solidFill>
                  <a:srgbClr val="27241B"/>
                </a:solidFill>
                <a:latin typeface="Liberation Sans"/>
              </a:rPr>
              <a:t>Group net revenue fell KSh 5.21M (10.7%). We did not lose customers — active customers rose +5.5%. We lost trips (-11.4% orders per customer) and basket (-4.5% average order value), and 71% of the damage sits in two of six stores.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892040"/>
            <a:ext cx="1118585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89877B"/>
                </a:solidFill>
                <a:latin typeface="Liberation Sans"/>
              </a:rPr>
              <a:t>A revenue decline does not need attention. It needs a small number of named owners with quantified problems.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89877B"/>
                </a:solidFill>
                <a:latin typeface="Liberation Sans"/>
              </a:rPr>
              <a:t>This deck converts one headline into four owned problems — with evidence, an expected recovery and a review 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THE NUMBERS, EACH AGAINST A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3606698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463040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NET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664208"/>
            <a:ext cx="335066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KSh 43.65M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" y="210312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-10.7%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from KSh 48.86M in Q3 2025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371600"/>
            <a:ext cx="3606698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0514" y="1463040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GROSS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0514" y="1664208"/>
            <a:ext cx="335066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18.57%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0514" y="210312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-1.38pp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gross profit KSh 8.04M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2076" y="1371600"/>
            <a:ext cx="3606698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0092" y="1463040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ORDERS PER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92" y="1664208"/>
            <a:ext cx="335066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4.82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0092" y="2103120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-11.4%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the engine of the decline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852928"/>
            <a:ext cx="3606698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" y="2944368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AVERAGE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" y="3145536"/>
            <a:ext cx="335066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FB6107"/>
                </a:solidFill>
                <a:latin typeface="Liberation Sans"/>
              </a:rPr>
              <a:t>KSh 1,619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" y="3584448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-4.5%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3.40 lines per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2498" y="2852928"/>
            <a:ext cx="3606698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20514" y="2944368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ACTIVE CUSTOMERS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20514" y="3145536"/>
            <a:ext cx="335066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259741"/>
                </a:solidFill>
                <a:latin typeface="Liberation Sans"/>
              </a:rPr>
              <a:t>5,555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20514" y="3584448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59741"/>
                </a:solidFill>
                <a:latin typeface="Liberation Sans"/>
              </a:rPr>
              <a:t>+5.5%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259741"/>
                </a:solidFill>
                <a:latin typeface="Liberation Sans"/>
              </a:rPr>
              <a:t>acquisition is NOT the problem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2076" y="2852928"/>
            <a:ext cx="3606698" cy="132588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0092" y="2944368"/>
            <a:ext cx="33506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1" i="0">
                <a:solidFill>
                  <a:srgbClr val="89877B"/>
                </a:solidFill>
                <a:latin typeface="Liberation Sans"/>
              </a:rPr>
              <a:t>REVENUE WITH NO CUSTOMER 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0092" y="3145536"/>
            <a:ext cx="335066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 i="0">
                <a:solidFill>
                  <a:srgbClr val="27241B"/>
                </a:solidFill>
                <a:latin typeface="Liberation Sans"/>
              </a:rPr>
              <a:t>0.76%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0092" y="3584448"/>
            <a:ext cx="335066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89877B"/>
                </a:solidFill>
                <a:latin typeface="Liberation Sans"/>
              </a:rPr>
              <a:t>KSh 0.70M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050" b="1" i="0">
                <a:solidFill>
                  <a:srgbClr val="89877B"/>
                </a:solidFill>
                <a:latin typeface="Liberation Sans"/>
              </a:rPr>
              <a:t>the declared coverage limit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48056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FB6107"/>
                </a:solidFill>
                <a:latin typeface="Liberation Sans"/>
              </a:rPr>
              <a:t>Gross profit fell 16.9% against a 10.7% revenue fall — margin compressed 1.38pp. Revenue is not profit.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9496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1">
                <a:solidFill>
                  <a:srgbClr val="89877B"/>
                </a:solidFill>
                <a:latin typeface="Liberation Sans"/>
              </a:rPr>
              <a:t>No naked numbers: every tile carries a year-on-year move or a target.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FINDINGS 1–2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What the analysis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85855" cy="233172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82296" cy="2331720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7241B"/>
                </a:solidFill>
                <a:latin typeface="Liberation Sans"/>
              </a:rPr>
              <a:t>1.  We did not lose customers — we lost trips and basket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92807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7241B"/>
                </a:solidFill>
                <a:latin typeface="Liberation Sans"/>
              </a:rPr>
              <a:t>Active customers rose +5.5%, so acquisition is working. But orders per customer fell -11.4% and average order value fell -4.5%. The engine failed, not the funnel — and that single distinction changes who is accountable and what the fix 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44952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89877B"/>
                </a:solidFill>
                <a:latin typeface="Liberation Sans"/>
              </a:rPr>
              <a:t>So what: A funnel problem would be fixed in marketing. A frequency and basket problem is fixed in CRM, assortment and availability.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13048"/>
            <a:ext cx="11185855" cy="233172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813048"/>
            <a:ext cx="82296" cy="2331720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941063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7241B"/>
                </a:solidFill>
                <a:latin typeface="Liberation Sans"/>
              </a:rPr>
              <a:t>2.  Two of six stores carry 71% of the decline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379976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7241B"/>
                </a:solidFill>
                <a:latin typeface="Liberation Sans"/>
              </a:rPr>
              <a:t>Mombasa Nyali (-27.0%) and Thika Road (-18.7%) are not a chain-wide trend. They are two local, separately-diagnosable events inside one quarter.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532120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89877B"/>
                </a:solidFill>
                <a:latin typeface="Liberation Sans"/>
              </a:rPr>
              <a:t>So what: Treating this as a chain-wide trend would spread a thin fix across six stores instead of a targeted fix on two.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FINDINGS 3–4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What the analysis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85855" cy="233172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82296" cy="2331720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7241B"/>
                </a:solidFill>
                <a:latin typeface="Liberation Sans"/>
              </a:rPr>
              <a:t>3.  The largest single cost has a date, a store and an owner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92807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7241B"/>
                </a:solidFill>
                <a:latin typeface="Liberation Sans"/>
              </a:rPr>
              <a:t>Two hero Personal Care SKUs sat off the shelf at Mombasa Nyali for 76 days (9.5% shelf availability). It cost KSh 2.16M. Only KSh 0.45M of that is Personal Care revenue — KSh 1.71M is baskets that were never started.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44952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89877B"/>
                </a:solidFill>
                <a:latin typeface="Liberation Sans"/>
              </a:rPr>
              <a:t>So what: Measuring only the affected category understates the event by roughly 4.8x. Availability failures are basket failures, not category failures.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13048"/>
            <a:ext cx="11185855" cy="233172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813048"/>
            <a:ext cx="82296" cy="2331720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941063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7241B"/>
                </a:solidFill>
                <a:latin typeface="Liberation Sans"/>
              </a:rPr>
              <a:t>4.  Discounting, not pricing, is the second lever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4379976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7241B"/>
                </a:solidFill>
                <a:latin typeface="Liberation Sans"/>
              </a:rPr>
              <a:t>List price per unit rose +4.3% while discount depth went from 4.80% to 7.82% of gross — roughly an extra KSh 1.43M given away in the quarter, concentrated in Beverages (+13.05pp).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532120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89877B"/>
                </a:solidFill>
                <a:latin typeface="Liberation Sans"/>
              </a:rPr>
              <a:t>So what: Gross profit fell faster than revenue. Price rises are being handed straight back through promotions, so margin — not just revenue — is the thing at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FINDINGS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What the analysis found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25880"/>
            <a:ext cx="11185855" cy="2331720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82296" cy="2331720"/>
          </a:xfrm>
          <a:prstGeom prst="rect">
            <a:avLst/>
          </a:prstGeom>
          <a:solidFill>
            <a:srgbClr val="259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453895"/>
            <a:ext cx="10637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600" b="1" i="0">
                <a:solidFill>
                  <a:srgbClr val="27241B"/>
                </a:solidFill>
                <a:latin typeface="Liberation Sans"/>
              </a:rPr>
              <a:t>5.  Retention is healthy; the leak is trip 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892807"/>
            <a:ext cx="1063721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 i="0">
                <a:solidFill>
                  <a:srgbClr val="27241B"/>
                </a:solidFill>
                <a:latin typeface="Liberation Sans"/>
              </a:rPr>
              <a:t>4,410 of 5,265 Q3 2025 customers returned (83.8%), and 1,145 new customers arrived. Churn is not the problem — the people we keep are simply shopping less often.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44952"/>
            <a:ext cx="1063721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1">
                <a:solidFill>
                  <a:srgbClr val="89877B"/>
                </a:solidFill>
                <a:latin typeface="Liberation Sans"/>
              </a:rPr>
              <a:t>So what: Win-back for the 855 lapsed customers is worth doing, but the money is in raising frequency among the customers who already come 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THE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One headline, three mechanisms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headline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460901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The 10.7% fall is one customer gain against two larger losses — it is not one event.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Customers contributed a gain of KSh +2.46M.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Orders per customer cost KSh -5.53M.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Average order value cost KSh -2.10M.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Frequency is the largest effect under every ordering — that is the robust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THE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Customers up, frequency down: the engine failed, not the funnel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2_mechanism_ident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44306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Acquisition is working; repeat behaviour is not. Different problem, different owner.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Active customers +5.5%.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Orders per customer -11.4%.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Average order value -4.5%.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Acquisition is working. Repeat behaviour is not.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WHERE IT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Two of six stores carry the decline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3_branch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407501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Two stores carry 71% of the decline.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Mombasa Nyali: KSh -2.18M (-27.0%).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Thika Road: KSh -1.50M (-18.7%).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Two local events, not a chain-wide trend.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The fix must therefore be targeted, not spread thin.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WHERE IT HAPPENED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The decline is concentrated in the intersection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4_branch_catego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40298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The decline is concentrated, not diffuse — so the fix can be too.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Red-orange = decline; green = growth; the ramp is centred on 0%.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Mombasa Nyali and Thika Road light up across every category.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Concentration means the fix can be targeted too.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Groceries loses the most money; Beverages falls fastest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5_category_dec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386978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Groceries is the biggest absolute loss, Beverages the fastest fall. Either alone misleads.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Two denominators, two different rankings.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Absolute loss points at Groceries.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Percentage fall points at Beverages.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Quoting either alone would mislead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The biggest single cost has a date, a store and an owner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8_stockou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4617473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9.5% availability for 76 days at Mombasa Nyali.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Bath Soap 800g at Mombasa Nyali.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9.5% shelf availability for 76 days.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Total cost KSh 2.16M — of which only KSh 0.45M is the affected category.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KSh 1.71M is baskets that were never started.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PRICING AND MARGIN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Prices rose, but discounting rose faster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9_discount_dep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438267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KSh 1.43M of extra discount in one quarter.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Discount depth 4.80% → 7.82% of gross.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Beverages alone: +13.05pp.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About KSh 1.43M of extra discount in one quarter.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Gross profit fell faster than revenue.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WHAT TO DO ABOUT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One headline → four ranked, owned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driver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98448"/>
            <a:ext cx="7382664" cy="35797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02920" y="6053328"/>
            <a:ext cx="11185855" cy="566928"/>
          </a:xfrm>
          <a:prstGeom prst="rect">
            <a:avLst/>
          </a:prstGeom>
          <a:solidFill>
            <a:srgbClr val="FFEF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6144768"/>
            <a:ext cx="10893247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1">
                <a:solidFill>
                  <a:srgbClr val="27241B"/>
                </a:solidFill>
                <a:latin typeface="Liberation Sans"/>
              </a:rPr>
              <a:t>Disjoint and audited: the bars sum to the whole decline with no double counting.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33018" y="1417320"/>
            <a:ext cx="3355756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Supply Chain &amp; Merchandising — KSh -2.16M (41%).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Retail Operations (Thika Road) — KSh -1.49M (29%).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CRM / Loyalty &amp; Assortment — KSh -0.97M (19%).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Pricing &amp; Category Management — KSh -0.55M (11%).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200" b="0" i="0">
                <a:solidFill>
                  <a:srgbClr val="27241B"/>
                </a:solidFill>
                <a:latin typeface="Liberation Sans"/>
              </a:rPr>
              <a:t>Disjoint and audited: the bars sum to the whole decline.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THE ACTION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Ranked problems, owners and expected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377440"/>
                <a:gridCol w="4846320"/>
                <a:gridCol w="1371600"/>
                <a:gridCol w="2103120"/>
              </a:tblGrid>
              <a:tr h="40233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7241B"/>
                          </a:solidFill>
                          <a:latin typeface="Liberation Sans"/>
                        </a:rPr>
                        <a:t>#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7241B"/>
                          </a:solidFill>
                          <a:latin typeface="Liberation Sans"/>
                        </a:rPr>
                        <a:t>Owner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7241B"/>
                          </a:solidFill>
                          <a:latin typeface="Liberation Sans"/>
                        </a:rPr>
                        <a:t>The problem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7241B"/>
                          </a:solidFill>
                          <a:latin typeface="Liberation Sans"/>
                        </a:rPr>
                        <a:t>Cost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27241B"/>
                          </a:solidFill>
                          <a:latin typeface="Liberation Sans"/>
                        </a:rPr>
                        <a:t>Share of decline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Supply Chain &amp; Merchandising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Two hero Personal Care SKUs out of stock for six weeks at Mombasa Nyali; the damage spread to whole baskets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KSh -2.16M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41%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Retail Operations (Thika Road)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Thika Road footfall cut for the full quarter — visits per customer well below every other store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KSh -1.49M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29%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CRM / Loyalty &amp; Assortment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Residual: fewer trips per customer and slimmer baskets right across the chain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KSh -0.97M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19%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Pricing &amp; Category Management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Beverage promotional depth deepened sharply outside the two affected stores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KSh -0.55M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11%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840480"/>
            <a:ext cx="11185855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7241B"/>
                </a:solidFill>
                <a:latin typeface="Liberation Sans"/>
              </a:rPr>
              <a:t>Days 0–30: rebuild safety stock on the hero SKUs; cap beverage discount depth with an approval gate.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7241B"/>
                </a:solidFill>
                <a:latin typeface="Liberation Sans"/>
              </a:rPr>
              <a:t>Days 30–60: rebuild the Mombasa basket; Thika Road access recovery with the landlord and county.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7241B"/>
                </a:solidFill>
                <a:latin typeface="Liberation Sans"/>
              </a:rPr>
              <a:t>Days 60–90: win-back and second-purchase nudges to fix the frequency leak.</a:t>
            </a:r>
          </a:p>
          <a:p>
            <a:pPr algn="l">
              <a:lnSpc>
                <a:spcPct val="105000"/>
              </a:lnSpc>
              <a:spcAft>
                <a:spcPts val="800"/>
              </a:spcAft>
            </a:pPr>
            <a:r>
              <a:rPr sz="1300" b="0" i="0">
                <a:solidFill>
                  <a:srgbClr val="27241B"/>
                </a:solidFill>
                <a:latin typeface="Liberation Sans"/>
              </a:rPr>
              <a:t>Continuous: capture a customer ID on every transaction and log supplier lead times.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INTELLECTUAL HONESTY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Facts, hypotheses, and the edge of what we know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7160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1463040"/>
                <a:gridCol w="4663440"/>
              </a:tblGrid>
              <a:tr h="448056"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27241B"/>
                          </a:solidFill>
                          <a:latin typeface="Liberation Sans"/>
                        </a:rPr>
                        <a:t>Statement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27241B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50">
                          <a:solidFill>
                            <a:srgbClr val="27241B"/>
                          </a:solidFill>
                          <a:latin typeface="Liberation Sans"/>
                        </a:rPr>
                        <a:t>Note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Revenue fell 10.7%; gross profit fell 16.9%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59741"/>
                          </a:solidFill>
                          <a:latin typeface="Liberation Sans"/>
                        </a:rPr>
                        <a:t>Fact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measured from the cleaned star schema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Two stores explain 71% of the decline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59741"/>
                          </a:solidFill>
                          <a:latin typeface="Liberation Sans"/>
                        </a:rPr>
                        <a:t>Fact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measured; contribution shares sum to the group change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Hero SKUs were 9.5% available for 76 days at Mombasa Nyali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59741"/>
                          </a:solidFill>
                          <a:latin typeface="Liberation Sans"/>
                        </a:rPr>
                        <a:t>Fact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from the branch x SKU x day availability table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Active customers rose +5.5% while frequency fell -11.4%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59741"/>
                          </a:solidFill>
                          <a:latin typeface="Liberation Sans"/>
                        </a:rPr>
                        <a:t>Fact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the mechanism identity, order-independent attribution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The stock-out *caused* the basket erosion at that store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B6107"/>
                          </a:solidFill>
                          <a:latin typeface="Liberation Sans"/>
                        </a:rPr>
                        <a:t>Hypothesis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the two co-move exactly in time; no causal test was run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Single-sourcing or no safety stock caused the stock-out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B6107"/>
                          </a:solidFill>
                          <a:latin typeface="Liberation Sans"/>
                        </a:rPr>
                        <a:t>Hypothesis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no procurement, supplier or lead-time data in this extract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Thika Road's decline is due to the road-works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B6107"/>
                          </a:solidFill>
                          <a:latin typeface="Liberation Sans"/>
                        </a:rPr>
                        <a:t>Hypothesis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the frequency-only signature is consistent with an access problem; no other local factor is recorded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Kisumu Lakefront's -11.5%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89877B"/>
                          </a:solidFill>
                          <a:latin typeface="Liberation Sans"/>
                        </a:rPr>
                        <a:t>Unexplained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flagged, deliberately not back-filled with a story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855 Q3 2025 customers did not return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259741"/>
                          </a:solidFill>
                          <a:latin typeface="Liberation Sans"/>
                        </a:rPr>
                        <a:t>Fact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7241B"/>
                          </a:solidFill>
                          <a:latin typeface="Liberation Sans"/>
                        </a:rPr>
                        <a:t>but 83.8% did — churn is not the problem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 i="0">
                <a:solidFill>
                  <a:srgbClr val="FB6107"/>
                </a:solidFill>
                <a:latin typeface="Liberation Sans"/>
              </a:rPr>
              <a:t>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5216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 i="0">
                <a:solidFill>
                  <a:srgbClr val="27241B"/>
                </a:solidFill>
                <a:latin typeface="Liberation Sans"/>
              </a:rPr>
              <a:t>How we will know whether it worked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88720"/>
            <a:ext cx="566928" cy="50292"/>
          </a:xfrm>
          <a:prstGeom prst="rect">
            <a:avLst/>
          </a:prstGeom>
          <a:solidFill>
            <a:srgbClr val="FB6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103120"/>
                <a:gridCol w="2560320"/>
                <a:gridCol w="2468880"/>
              </a:tblGrid>
              <a:tr h="3962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27241B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27241B"/>
                          </a:solidFill>
                          <a:latin typeface="Liberation Sans"/>
                        </a:rPr>
                        <a:t>Baseline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27241B"/>
                          </a:solidFill>
                          <a:latin typeface="Liberation Sans"/>
                        </a:rPr>
                        <a:t>Target by Q1 FY2027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27241B"/>
                          </a:solidFill>
                          <a:latin typeface="Liberation Sans"/>
                        </a:rPr>
                        <a:t>Watched by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Orders per customer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5.44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back above 5.44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CRM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Hero SKU shelf availability (Mombasa)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9.5%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&gt;99%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Supply Chain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Thika Road visits per customer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-23.7% YoY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&gt;0% YoY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Retail Ops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Beverage discount depth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7.82% of gross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&lt;= 4.80%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Pricing</a:t>
                      </a:r>
                    </a:p>
                  </a:txBody>
                  <a:tcPr>
                    <a:solidFill>
                      <a:srgbClr val="FFEFD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Gross margin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18.57%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back above 19.95%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27241B"/>
                          </a:solidFill>
                          <a:latin typeface="Liberation Sans"/>
                        </a:rPr>
                        <a:t>Finance</a:t>
                      </a:r>
                    </a:p>
                  </a:txBody>
                  <a:tcPr>
                    <a:solidFill>
                      <a:srgbClr val="FFFDF0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4160520"/>
            <a:ext cx="11185855" cy="1463040"/>
          </a:xfrm>
          <a:prstGeom prst="rect">
            <a:avLst/>
          </a:prstGeom>
          <a:solidFill>
            <a:srgbClr val="FFEFD5"/>
          </a:solidFill>
          <a:ln w="15875">
            <a:solidFill>
              <a:srgbClr val="FB6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370832"/>
            <a:ext cx="106372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27241B"/>
                </a:solidFill>
                <a:latin typeface="Liberation Sans"/>
              </a:rPr>
              <a:t>The uncomfortable test: if the people who receive this deck make the same decisions they made last quarter, it was decoration.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400" b="0" i="0">
                <a:solidFill>
                  <a:srgbClr val="27241B"/>
                </a:solidFill>
                <a:latin typeface="Liberation Sans"/>
              </a:rPr>
              <a:t>Follow up in 90 days: did the decision change, and did the recommendation work?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